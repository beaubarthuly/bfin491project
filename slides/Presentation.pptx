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4"/>
  </p:notesMasterIdLst>
  <p:sldIdLst>
    <p:sldId id="256" r:id="rId2"/>
    <p:sldId id="271" r:id="rId3"/>
    <p:sldId id="272" r:id="rId4"/>
    <p:sldId id="257" r:id="rId5"/>
    <p:sldId id="273" r:id="rId6"/>
    <p:sldId id="258" r:id="rId7"/>
    <p:sldId id="276" r:id="rId8"/>
    <p:sldId id="259" r:id="rId9"/>
    <p:sldId id="260" r:id="rId10"/>
    <p:sldId id="266" r:id="rId11"/>
    <p:sldId id="274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5A2C"/>
    <a:srgbClr val="7E263F"/>
    <a:srgbClr val="E07C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05F9C9-A0A0-1E49-95FA-A49E1EDA1CFC}" v="890" dt="2026-05-04T02:53:20.2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59" autoAdjust="0"/>
    <p:restoredTop sz="69225"/>
  </p:normalViewPr>
  <p:slideViewPr>
    <p:cSldViewPr snapToGrid="0">
      <p:cViewPr varScale="1">
        <p:scale>
          <a:sx n="75" d="100"/>
          <a:sy n="75" d="100"/>
        </p:scale>
        <p:origin x="15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A8D70C-97F9-AE4D-BFC4-39BF090B107F}" type="doc">
      <dgm:prSet loTypeId="urn:microsoft.com/office/officeart/2005/8/layout/process1" loCatId="" qsTypeId="urn:microsoft.com/office/officeart/2005/8/quickstyle/simple4" qsCatId="simple" csTypeId="urn:microsoft.com/office/officeart/2005/8/colors/accent1_2" csCatId="accent1" phldr="1"/>
      <dgm:spPr/>
    </dgm:pt>
    <dgm:pt modelId="{6DE3A6A4-08EB-4140-BF05-7B5D5E49FCA4}">
      <dgm:prSet phldrT="[Text]"/>
      <dgm:spPr/>
      <dgm:t>
        <a:bodyPr/>
        <a:lstStyle/>
        <a:p>
          <a:r>
            <a:rPr lang="en-US" b="1" dirty="0"/>
            <a:t>Start: </a:t>
          </a:r>
          <a:r>
            <a:rPr lang="en-US" dirty="0"/>
            <a:t>Legacy + Candidates</a:t>
          </a:r>
        </a:p>
      </dgm:t>
    </dgm:pt>
    <dgm:pt modelId="{D98B8E54-DD70-9B46-8E36-C376F41DA8CA}" type="parTrans" cxnId="{61A09D68-5DFC-DF46-A869-98460D386967}">
      <dgm:prSet/>
      <dgm:spPr/>
      <dgm:t>
        <a:bodyPr/>
        <a:lstStyle/>
        <a:p>
          <a:endParaRPr lang="en-US"/>
        </a:p>
      </dgm:t>
    </dgm:pt>
    <dgm:pt modelId="{7C2D3337-1A3A-B547-BC8B-50EE5ABE5F7B}" type="sibTrans" cxnId="{61A09D68-5DFC-DF46-A869-98460D386967}">
      <dgm:prSet/>
      <dgm:spPr/>
      <dgm:t>
        <a:bodyPr/>
        <a:lstStyle/>
        <a:p>
          <a:endParaRPr lang="en-US"/>
        </a:p>
      </dgm:t>
    </dgm:pt>
    <dgm:pt modelId="{B2D1DC16-0555-2C4F-A402-1C288C385FAE}">
      <dgm:prSet phldrT="[Text]"/>
      <dgm:spPr/>
      <dgm:t>
        <a:bodyPr/>
        <a:lstStyle/>
        <a:p>
          <a:r>
            <a:rPr lang="en-US" b="1" dirty="0"/>
            <a:t>Screen: </a:t>
          </a:r>
          <a:r>
            <a:rPr lang="en-US" dirty="0"/>
            <a:t>Risk, Return, Correlation</a:t>
          </a:r>
        </a:p>
      </dgm:t>
    </dgm:pt>
    <dgm:pt modelId="{96E5A100-AC52-9C47-9339-F97E1B80FE54}" type="parTrans" cxnId="{9F3D7B5A-25EE-5348-9B15-D5B0637FB30E}">
      <dgm:prSet/>
      <dgm:spPr/>
      <dgm:t>
        <a:bodyPr/>
        <a:lstStyle/>
        <a:p>
          <a:endParaRPr lang="en-US"/>
        </a:p>
      </dgm:t>
    </dgm:pt>
    <dgm:pt modelId="{9FA9382A-95AC-2A44-A72C-CD12684C45E6}" type="sibTrans" cxnId="{9F3D7B5A-25EE-5348-9B15-D5B0637FB30E}">
      <dgm:prSet/>
      <dgm:spPr/>
      <dgm:t>
        <a:bodyPr/>
        <a:lstStyle/>
        <a:p>
          <a:endParaRPr lang="en-US"/>
        </a:p>
      </dgm:t>
    </dgm:pt>
    <dgm:pt modelId="{8E94ADAC-C662-E84F-9D91-7C11553E7A64}">
      <dgm:prSet phldrT="[Text]"/>
      <dgm:spPr/>
      <dgm:t>
        <a:bodyPr/>
        <a:lstStyle/>
        <a:p>
          <a:r>
            <a:rPr lang="en-US" b="1" dirty="0"/>
            <a:t>Implement: </a:t>
          </a:r>
          <a:r>
            <a:rPr lang="en-US" b="0" dirty="0"/>
            <a:t>Static &amp; Active</a:t>
          </a:r>
        </a:p>
      </dgm:t>
    </dgm:pt>
    <dgm:pt modelId="{0355A2DD-45C0-1947-8AB1-99034A46FA0D}" type="parTrans" cxnId="{F3A57F2B-AE94-BD4C-8B2D-613174CB54A5}">
      <dgm:prSet/>
      <dgm:spPr/>
      <dgm:t>
        <a:bodyPr/>
        <a:lstStyle/>
        <a:p>
          <a:endParaRPr lang="en-US"/>
        </a:p>
      </dgm:t>
    </dgm:pt>
    <dgm:pt modelId="{5DAFF532-1CD0-594D-A93A-975183D6B1D4}" type="sibTrans" cxnId="{F3A57F2B-AE94-BD4C-8B2D-613174CB54A5}">
      <dgm:prSet/>
      <dgm:spPr/>
      <dgm:t>
        <a:bodyPr/>
        <a:lstStyle/>
        <a:p>
          <a:endParaRPr lang="en-US"/>
        </a:p>
      </dgm:t>
    </dgm:pt>
    <dgm:pt modelId="{9F3ECCD2-D701-B247-A3F6-441B8843CFDB}" type="pres">
      <dgm:prSet presAssocID="{BDA8D70C-97F9-AE4D-BFC4-39BF090B107F}" presName="Name0" presStyleCnt="0">
        <dgm:presLayoutVars>
          <dgm:dir/>
          <dgm:resizeHandles val="exact"/>
        </dgm:presLayoutVars>
      </dgm:prSet>
      <dgm:spPr/>
    </dgm:pt>
    <dgm:pt modelId="{E351A478-8E4C-DF4A-8B07-3C2A97A333B4}" type="pres">
      <dgm:prSet presAssocID="{6DE3A6A4-08EB-4140-BF05-7B5D5E49FCA4}" presName="node" presStyleLbl="node1" presStyleIdx="0" presStyleCnt="3">
        <dgm:presLayoutVars>
          <dgm:bulletEnabled val="1"/>
        </dgm:presLayoutVars>
      </dgm:prSet>
      <dgm:spPr/>
    </dgm:pt>
    <dgm:pt modelId="{0FBA5DD9-1774-9D42-A2E3-5D0D9878285B}" type="pres">
      <dgm:prSet presAssocID="{7C2D3337-1A3A-B547-BC8B-50EE5ABE5F7B}" presName="sibTrans" presStyleLbl="sibTrans2D1" presStyleIdx="0" presStyleCnt="2"/>
      <dgm:spPr/>
    </dgm:pt>
    <dgm:pt modelId="{220B172B-ED72-D24C-A12D-4426C34345A4}" type="pres">
      <dgm:prSet presAssocID="{7C2D3337-1A3A-B547-BC8B-50EE5ABE5F7B}" presName="connectorText" presStyleLbl="sibTrans2D1" presStyleIdx="0" presStyleCnt="2"/>
      <dgm:spPr/>
    </dgm:pt>
    <dgm:pt modelId="{434701C1-5DEB-0841-8E8E-766BB4F99F4A}" type="pres">
      <dgm:prSet presAssocID="{B2D1DC16-0555-2C4F-A402-1C288C385FAE}" presName="node" presStyleLbl="node1" presStyleIdx="1" presStyleCnt="3">
        <dgm:presLayoutVars>
          <dgm:bulletEnabled val="1"/>
        </dgm:presLayoutVars>
      </dgm:prSet>
      <dgm:spPr/>
    </dgm:pt>
    <dgm:pt modelId="{C26C8B36-F04C-D34E-BEE6-3C8FD040A802}" type="pres">
      <dgm:prSet presAssocID="{9FA9382A-95AC-2A44-A72C-CD12684C45E6}" presName="sibTrans" presStyleLbl="sibTrans2D1" presStyleIdx="1" presStyleCnt="2"/>
      <dgm:spPr/>
    </dgm:pt>
    <dgm:pt modelId="{B193E3BC-46AB-A94C-95DE-D9C00898EF00}" type="pres">
      <dgm:prSet presAssocID="{9FA9382A-95AC-2A44-A72C-CD12684C45E6}" presName="connectorText" presStyleLbl="sibTrans2D1" presStyleIdx="1" presStyleCnt="2"/>
      <dgm:spPr/>
    </dgm:pt>
    <dgm:pt modelId="{9B5E5C10-1B99-DC41-BB78-A69566B151E9}" type="pres">
      <dgm:prSet presAssocID="{8E94ADAC-C662-E84F-9D91-7C11553E7A64}" presName="node" presStyleLbl="node1" presStyleIdx="2" presStyleCnt="3">
        <dgm:presLayoutVars>
          <dgm:bulletEnabled val="1"/>
        </dgm:presLayoutVars>
      </dgm:prSet>
      <dgm:spPr/>
    </dgm:pt>
  </dgm:ptLst>
  <dgm:cxnLst>
    <dgm:cxn modelId="{A8146420-F6DC-CA4D-9471-3196A0CE3F9B}" type="presOf" srcId="{6DE3A6A4-08EB-4140-BF05-7B5D5E49FCA4}" destId="{E351A478-8E4C-DF4A-8B07-3C2A97A333B4}" srcOrd="0" destOrd="0" presId="urn:microsoft.com/office/officeart/2005/8/layout/process1"/>
    <dgm:cxn modelId="{56803224-61CE-504B-AF51-7F264B83847A}" type="presOf" srcId="{BDA8D70C-97F9-AE4D-BFC4-39BF090B107F}" destId="{9F3ECCD2-D701-B247-A3F6-441B8843CFDB}" srcOrd="0" destOrd="0" presId="urn:microsoft.com/office/officeart/2005/8/layout/process1"/>
    <dgm:cxn modelId="{F3A57F2B-AE94-BD4C-8B2D-613174CB54A5}" srcId="{BDA8D70C-97F9-AE4D-BFC4-39BF090B107F}" destId="{8E94ADAC-C662-E84F-9D91-7C11553E7A64}" srcOrd="2" destOrd="0" parTransId="{0355A2DD-45C0-1947-8AB1-99034A46FA0D}" sibTransId="{5DAFF532-1CD0-594D-A93A-975183D6B1D4}"/>
    <dgm:cxn modelId="{2561243F-EAD4-7042-95F2-8A04F6152D96}" type="presOf" srcId="{8E94ADAC-C662-E84F-9D91-7C11553E7A64}" destId="{9B5E5C10-1B99-DC41-BB78-A69566B151E9}" srcOrd="0" destOrd="0" presId="urn:microsoft.com/office/officeart/2005/8/layout/process1"/>
    <dgm:cxn modelId="{9F3D7B5A-25EE-5348-9B15-D5B0637FB30E}" srcId="{BDA8D70C-97F9-AE4D-BFC4-39BF090B107F}" destId="{B2D1DC16-0555-2C4F-A402-1C288C385FAE}" srcOrd="1" destOrd="0" parTransId="{96E5A100-AC52-9C47-9339-F97E1B80FE54}" sibTransId="{9FA9382A-95AC-2A44-A72C-CD12684C45E6}"/>
    <dgm:cxn modelId="{61A09D68-5DFC-DF46-A869-98460D386967}" srcId="{BDA8D70C-97F9-AE4D-BFC4-39BF090B107F}" destId="{6DE3A6A4-08EB-4140-BF05-7B5D5E49FCA4}" srcOrd="0" destOrd="0" parTransId="{D98B8E54-DD70-9B46-8E36-C376F41DA8CA}" sibTransId="{7C2D3337-1A3A-B547-BC8B-50EE5ABE5F7B}"/>
    <dgm:cxn modelId="{D02875A6-A43A-174B-BDCB-09E0A5EA9948}" type="presOf" srcId="{7C2D3337-1A3A-B547-BC8B-50EE5ABE5F7B}" destId="{220B172B-ED72-D24C-A12D-4426C34345A4}" srcOrd="1" destOrd="0" presId="urn:microsoft.com/office/officeart/2005/8/layout/process1"/>
    <dgm:cxn modelId="{D36429AE-046B-664A-9CA1-82D6BB69E086}" type="presOf" srcId="{7C2D3337-1A3A-B547-BC8B-50EE5ABE5F7B}" destId="{0FBA5DD9-1774-9D42-A2E3-5D0D9878285B}" srcOrd="0" destOrd="0" presId="urn:microsoft.com/office/officeart/2005/8/layout/process1"/>
    <dgm:cxn modelId="{46F443B1-3F81-174B-9CD3-E40FA117BB31}" type="presOf" srcId="{9FA9382A-95AC-2A44-A72C-CD12684C45E6}" destId="{C26C8B36-F04C-D34E-BEE6-3C8FD040A802}" srcOrd="0" destOrd="0" presId="urn:microsoft.com/office/officeart/2005/8/layout/process1"/>
    <dgm:cxn modelId="{E03225DB-6780-1543-B52A-86B71DEFCA09}" type="presOf" srcId="{B2D1DC16-0555-2C4F-A402-1C288C385FAE}" destId="{434701C1-5DEB-0841-8E8E-766BB4F99F4A}" srcOrd="0" destOrd="0" presId="urn:microsoft.com/office/officeart/2005/8/layout/process1"/>
    <dgm:cxn modelId="{FEBDB2EC-86B3-C946-AE6A-33A07418D8FC}" type="presOf" srcId="{9FA9382A-95AC-2A44-A72C-CD12684C45E6}" destId="{B193E3BC-46AB-A94C-95DE-D9C00898EF00}" srcOrd="1" destOrd="0" presId="urn:microsoft.com/office/officeart/2005/8/layout/process1"/>
    <dgm:cxn modelId="{767CBEB3-AE4C-6043-BD44-D54AAB4B1121}" type="presParOf" srcId="{9F3ECCD2-D701-B247-A3F6-441B8843CFDB}" destId="{E351A478-8E4C-DF4A-8B07-3C2A97A333B4}" srcOrd="0" destOrd="0" presId="urn:microsoft.com/office/officeart/2005/8/layout/process1"/>
    <dgm:cxn modelId="{324ECFAD-805C-C44E-80A9-CB3D6A19009F}" type="presParOf" srcId="{9F3ECCD2-D701-B247-A3F6-441B8843CFDB}" destId="{0FBA5DD9-1774-9D42-A2E3-5D0D9878285B}" srcOrd="1" destOrd="0" presId="urn:microsoft.com/office/officeart/2005/8/layout/process1"/>
    <dgm:cxn modelId="{D52AA5DD-E335-4040-917E-2707DCF904AF}" type="presParOf" srcId="{0FBA5DD9-1774-9D42-A2E3-5D0D9878285B}" destId="{220B172B-ED72-D24C-A12D-4426C34345A4}" srcOrd="0" destOrd="0" presId="urn:microsoft.com/office/officeart/2005/8/layout/process1"/>
    <dgm:cxn modelId="{BF7A65D3-FAE2-CD4D-BBB2-B219D2EC73F2}" type="presParOf" srcId="{9F3ECCD2-D701-B247-A3F6-441B8843CFDB}" destId="{434701C1-5DEB-0841-8E8E-766BB4F99F4A}" srcOrd="2" destOrd="0" presId="urn:microsoft.com/office/officeart/2005/8/layout/process1"/>
    <dgm:cxn modelId="{FEBF74D6-5D8F-6C45-88CC-E85CFD6B373E}" type="presParOf" srcId="{9F3ECCD2-D701-B247-A3F6-441B8843CFDB}" destId="{C26C8B36-F04C-D34E-BEE6-3C8FD040A802}" srcOrd="3" destOrd="0" presId="urn:microsoft.com/office/officeart/2005/8/layout/process1"/>
    <dgm:cxn modelId="{C699E550-8AED-4B44-A016-C06CCCAA1D10}" type="presParOf" srcId="{C26C8B36-F04C-D34E-BEE6-3C8FD040A802}" destId="{B193E3BC-46AB-A94C-95DE-D9C00898EF00}" srcOrd="0" destOrd="0" presId="urn:microsoft.com/office/officeart/2005/8/layout/process1"/>
    <dgm:cxn modelId="{8AB2DB7D-C428-AE4F-9ED4-C7F66F77C4B4}" type="presParOf" srcId="{9F3ECCD2-D701-B247-A3F6-441B8843CFDB}" destId="{9B5E5C10-1B99-DC41-BB78-A69566B151E9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51A478-8E4C-DF4A-8B07-3C2A97A333B4}">
      <dsp:nvSpPr>
        <dsp:cNvPr id="0" name=""/>
        <dsp:cNvSpPr/>
      </dsp:nvSpPr>
      <dsp:spPr>
        <a:xfrm>
          <a:off x="8515" y="0"/>
          <a:ext cx="2545287" cy="6372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Start: </a:t>
          </a:r>
          <a:r>
            <a:rPr lang="en-US" sz="1700" kern="1200" dirty="0"/>
            <a:t>Legacy + Candidates</a:t>
          </a:r>
        </a:p>
      </dsp:txBody>
      <dsp:txXfrm>
        <a:off x="27178" y="18663"/>
        <a:ext cx="2507961" cy="599883"/>
      </dsp:txXfrm>
    </dsp:sp>
    <dsp:sp modelId="{0FBA5DD9-1774-9D42-A2E3-5D0D9878285B}">
      <dsp:nvSpPr>
        <dsp:cNvPr id="0" name=""/>
        <dsp:cNvSpPr/>
      </dsp:nvSpPr>
      <dsp:spPr>
        <a:xfrm>
          <a:off x="2808331" y="2988"/>
          <a:ext cx="539600" cy="63123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808331" y="129234"/>
        <a:ext cx="377720" cy="378739"/>
      </dsp:txXfrm>
    </dsp:sp>
    <dsp:sp modelId="{434701C1-5DEB-0841-8E8E-766BB4F99F4A}">
      <dsp:nvSpPr>
        <dsp:cNvPr id="0" name=""/>
        <dsp:cNvSpPr/>
      </dsp:nvSpPr>
      <dsp:spPr>
        <a:xfrm>
          <a:off x="3571917" y="0"/>
          <a:ext cx="2545287" cy="6372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Screen: </a:t>
          </a:r>
          <a:r>
            <a:rPr lang="en-US" sz="1700" kern="1200" dirty="0"/>
            <a:t>Risk, Return, Correlation</a:t>
          </a:r>
        </a:p>
      </dsp:txBody>
      <dsp:txXfrm>
        <a:off x="3590580" y="18663"/>
        <a:ext cx="2507961" cy="599883"/>
      </dsp:txXfrm>
    </dsp:sp>
    <dsp:sp modelId="{C26C8B36-F04C-D34E-BEE6-3C8FD040A802}">
      <dsp:nvSpPr>
        <dsp:cNvPr id="0" name=""/>
        <dsp:cNvSpPr/>
      </dsp:nvSpPr>
      <dsp:spPr>
        <a:xfrm>
          <a:off x="6371733" y="2988"/>
          <a:ext cx="539600" cy="63123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371733" y="129234"/>
        <a:ext cx="377720" cy="378739"/>
      </dsp:txXfrm>
    </dsp:sp>
    <dsp:sp modelId="{9B5E5C10-1B99-DC41-BB78-A69566B151E9}">
      <dsp:nvSpPr>
        <dsp:cNvPr id="0" name=""/>
        <dsp:cNvSpPr/>
      </dsp:nvSpPr>
      <dsp:spPr>
        <a:xfrm>
          <a:off x="7135319" y="0"/>
          <a:ext cx="2545287" cy="63720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Implement: </a:t>
          </a:r>
          <a:r>
            <a:rPr lang="en-US" sz="1700" b="0" kern="1200" dirty="0"/>
            <a:t>Static &amp; Active</a:t>
          </a:r>
        </a:p>
      </dsp:txBody>
      <dsp:txXfrm>
        <a:off x="7153982" y="18663"/>
        <a:ext cx="2507961" cy="5998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DBC91E-8F58-AD41-A666-EDEF91B4B5D3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6CD477-8F88-DB42-A8A8-04018DC0D2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80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Bailey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CD477-8F88-DB42-A8A8-04018DC0D2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358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Bailey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CD477-8F88-DB42-A8A8-04018DC0D2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21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Bailey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CD477-8F88-DB42-A8A8-04018DC0D2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458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Kjellen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CD477-8F88-DB42-A8A8-04018DC0D2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303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Kjellen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CD477-8F88-DB42-A8A8-04018DC0D2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1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Kjellen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CD477-8F88-DB42-A8A8-04018DC0D25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638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Bailey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CD477-8F88-DB42-A8A8-04018DC0D2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415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CD477-8F88-DB42-A8A8-04018DC0D25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2486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CD477-8F88-DB42-A8A8-04018DC0D25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62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CD477-8F88-DB42-A8A8-04018DC0D25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396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5/3/26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515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5/3/26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994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5/3/26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075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5/3/26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946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5/3/26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7643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5/3/26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903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5/3/26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716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5/3/26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3193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5/3/26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677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5/3/26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134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5/3/26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000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5/3/26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234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finance.yahoo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 anchor="ctr">
            <a:normAutofit/>
          </a:bodyPr>
          <a:lstStyle/>
          <a:p>
            <a:r>
              <a:rPr lang="en-US" sz="6100" dirty="0"/>
              <a:t>Fund Management Capstone</a:t>
            </a: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5A5BA6B-F91C-65BB-2AD5-38B0F4924E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583" y="2432968"/>
            <a:ext cx="3534833" cy="3521763"/>
          </a:xfrm>
          <a:prstGeom prst="rect">
            <a:avLst/>
          </a:prstGeom>
          <a:noFill/>
        </p:spPr>
      </p:pic>
      <p:pic>
        <p:nvPicPr>
          <p:cNvPr id="9" name="Content Placeholder 8" descr="A blue and yellow logo&#10;&#10;AI-generated content may be incorrect.">
            <a:extLst>
              <a:ext uri="{FF2B5EF4-FFF2-40B4-BE49-F238E27FC236}">
                <a16:creationId xmlns:a16="http://schemas.microsoft.com/office/drawing/2014/main" id="{F88F6C00-4C0D-13DC-A1AB-C3FBFE20E12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0408000" y="5464629"/>
            <a:ext cx="1641664" cy="122929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B3C6E744-CD81-1DC0-D7EF-AB8927205A4F}"/>
              </a:ext>
            </a:extLst>
          </p:cNvPr>
          <p:cNvSpPr>
            <a:spLocks noGrp="1"/>
          </p:cNvSpPr>
          <p:nvPr/>
        </p:nvSpPr>
        <p:spPr>
          <a:xfrm>
            <a:off x="4675408" y="1638315"/>
            <a:ext cx="2694221" cy="5530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SPRING 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65C2AE-683C-452E-0EBD-55A7948D13A1}"/>
              </a:ext>
            </a:extLst>
          </p:cNvPr>
          <p:cNvSpPr txBox="1">
            <a:spLocks/>
          </p:cNvSpPr>
          <p:nvPr/>
        </p:nvSpPr>
        <p:spPr>
          <a:xfrm>
            <a:off x="2119178" y="5445219"/>
            <a:ext cx="7950595" cy="150222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r>
              <a:rPr lang="en-US" sz="4000" b="1" dirty="0"/>
              <a:t>BEAU BARTHULY, BAILEY BINANDO, KJELLEN BOGARD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01AFEF-51A2-6EB4-E337-E9D1A1EBAB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84" y="5270527"/>
            <a:ext cx="1897868" cy="1423401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E5FF8D0-76BB-BBFD-B19F-BA9BD739BB58}"/>
              </a:ext>
            </a:extLst>
          </p:cNvPr>
          <p:cNvSpPr>
            <a:spLocks noGrp="1"/>
          </p:cNvSpPr>
          <p:nvPr/>
        </p:nvSpPr>
        <p:spPr>
          <a:xfrm>
            <a:off x="5149020" y="215819"/>
            <a:ext cx="1890910" cy="5530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bg1"/>
                </a:solidFill>
              </a:rPr>
              <a:t>BFIN 491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D67D9-FCA9-9B66-E8BD-667591C57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DEMAND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0759F1C-5CE2-1915-153B-FB3F629D5B04}"/>
              </a:ext>
            </a:extLst>
          </p:cNvPr>
          <p:cNvSpPr/>
          <p:nvPr/>
        </p:nvSpPr>
        <p:spPr>
          <a:xfrm>
            <a:off x="1460255" y="1722114"/>
            <a:ext cx="9268441" cy="110101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u="sng" dirty="0"/>
              <a:t>PWC Global Investor Survey 2025: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Macroeconomic volatility, inflation, and geopolitics are key investor concerns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Investors prioritize resilience and risk management over macro-driven growth</a:t>
            </a:r>
          </a:p>
        </p:txBody>
      </p:sp>
      <p:pic>
        <p:nvPicPr>
          <p:cNvPr id="11" name="Picture 10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2A8DECD8-1BEB-0A65-E311-4D4F3C1C15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440" y="3477712"/>
            <a:ext cx="7596070" cy="32283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EA780CE-C74F-AC5E-1A04-2C2307ABAFD6}"/>
              </a:ext>
            </a:extLst>
          </p:cNvPr>
          <p:cNvSpPr txBox="1"/>
          <p:nvPr/>
        </p:nvSpPr>
        <p:spPr>
          <a:xfrm>
            <a:off x="2105583" y="3010957"/>
            <a:ext cx="7977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Persistent Volatility Highlights the Need for Diversified, Risk-Managed Portfolios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BA2F63-841D-C571-A156-0FD56D1E1C53}"/>
              </a:ext>
            </a:extLst>
          </p:cNvPr>
          <p:cNvSpPr txBox="1"/>
          <p:nvPr/>
        </p:nvSpPr>
        <p:spPr>
          <a:xfrm>
            <a:off x="6991420" y="6393175"/>
            <a:ext cx="29398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i="1" dirty="0"/>
              <a:t>Source: Sun Life Global Investments</a:t>
            </a:r>
          </a:p>
        </p:txBody>
      </p:sp>
    </p:spTree>
    <p:extLst>
      <p:ext uri="{BB962C8B-B14F-4D97-AF65-F5344CB8AC3E}">
        <p14:creationId xmlns:p14="http://schemas.microsoft.com/office/powerpoint/2010/main" val="2115033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9E98F-213D-E29C-9EA9-B0CA16B75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Market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86B43-8BFF-8125-76D0-AFCD2F48DA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6781" y="2436794"/>
            <a:ext cx="5904506" cy="2566549"/>
          </a:xfrm>
        </p:spPr>
        <p:txBody>
          <a:bodyPr>
            <a:normAutofit/>
          </a:bodyPr>
          <a:lstStyle/>
          <a:p>
            <a:r>
              <a:rPr lang="en-US" b="1" dirty="0"/>
              <a:t>Target Client Profile: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Age: 30–45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Time Horizon: 20-35+ Years 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Risk: Moderate-Aggressive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3B542-7A75-B4D6-B2C2-4A66FBF87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66798" y="2436793"/>
            <a:ext cx="6351629" cy="2566549"/>
          </a:xfrm>
        </p:spPr>
        <p:txBody>
          <a:bodyPr>
            <a:normAutofit/>
          </a:bodyPr>
          <a:lstStyle/>
          <a:p>
            <a:r>
              <a:rPr lang="en-US" b="1" dirty="0"/>
              <a:t>Investment Objective: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Maximize long-term risk-adjusted returns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Reduce concentration risk and volatility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Maintain broad sector diversification</a:t>
            </a:r>
          </a:p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4827218-4A50-51E9-A4B8-6EEF4290FC98}"/>
              </a:ext>
            </a:extLst>
          </p:cNvPr>
          <p:cNvSpPr/>
          <p:nvPr/>
        </p:nvSpPr>
        <p:spPr>
          <a:xfrm>
            <a:off x="5193157" y="5087243"/>
            <a:ext cx="1629751" cy="6685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Moderate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FE8634-FC98-9AFE-826C-7C490686E89B}"/>
              </a:ext>
            </a:extLst>
          </p:cNvPr>
          <p:cNvSpPr/>
          <p:nvPr/>
        </p:nvSpPr>
        <p:spPr>
          <a:xfrm>
            <a:off x="3606858" y="5087243"/>
            <a:ext cx="1629751" cy="6685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Moderate - Conservative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19BDD333-AE8A-F090-23DB-200F6D28A50B}"/>
              </a:ext>
            </a:extLst>
          </p:cNvPr>
          <p:cNvSpPr/>
          <p:nvPr/>
        </p:nvSpPr>
        <p:spPr>
          <a:xfrm>
            <a:off x="10035807" y="4763169"/>
            <a:ext cx="1285459" cy="1319655"/>
          </a:xfrm>
          <a:prstGeom prst="rightArrow">
            <a:avLst/>
          </a:prstGeom>
          <a:solidFill>
            <a:srgbClr val="7E26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High Risk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F5CC53-D466-38F5-2F6C-64FE531CD512}"/>
              </a:ext>
            </a:extLst>
          </p:cNvPr>
          <p:cNvSpPr/>
          <p:nvPr/>
        </p:nvSpPr>
        <p:spPr>
          <a:xfrm>
            <a:off x="8409207" y="5087243"/>
            <a:ext cx="1629751" cy="668588"/>
          </a:xfrm>
          <a:prstGeom prst="rect">
            <a:avLst/>
          </a:prstGeom>
          <a:solidFill>
            <a:srgbClr val="B45A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Aggressive</a:t>
            </a:r>
          </a:p>
        </p:txBody>
      </p:sp>
      <p:sp>
        <p:nvSpPr>
          <p:cNvPr id="28" name="Left Arrow 27">
            <a:extLst>
              <a:ext uri="{FF2B5EF4-FFF2-40B4-BE49-F238E27FC236}">
                <a16:creationId xmlns:a16="http://schemas.microsoft.com/office/drawing/2014/main" id="{EBC9C05A-E215-0C21-EF82-B7108C976C07}"/>
              </a:ext>
            </a:extLst>
          </p:cNvPr>
          <p:cNvSpPr/>
          <p:nvPr/>
        </p:nvSpPr>
        <p:spPr>
          <a:xfrm>
            <a:off x="687803" y="4763169"/>
            <a:ext cx="1289304" cy="1316736"/>
          </a:xfrm>
          <a:prstGeom prst="lef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Low Risk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C76E33-9B5C-71CE-9134-7257E5CC953B}"/>
              </a:ext>
            </a:extLst>
          </p:cNvPr>
          <p:cNvSpPr/>
          <p:nvPr/>
        </p:nvSpPr>
        <p:spPr>
          <a:xfrm>
            <a:off x="1977107" y="5087243"/>
            <a:ext cx="1629751" cy="6685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Conservative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B724DB-6DAE-1C43-CF8C-E9589926F11B}"/>
              </a:ext>
            </a:extLst>
          </p:cNvPr>
          <p:cNvSpPr txBox="1"/>
          <p:nvPr/>
        </p:nvSpPr>
        <p:spPr>
          <a:xfrm>
            <a:off x="1578327" y="6170854"/>
            <a:ext cx="885941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Long-term equity growth with controlled volatility through diversification and rebalancing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FB64FB5-9445-7B81-80E9-8A19818967C8}"/>
              </a:ext>
            </a:extLst>
          </p:cNvPr>
          <p:cNvSpPr/>
          <p:nvPr/>
        </p:nvSpPr>
        <p:spPr>
          <a:xfrm>
            <a:off x="6819757" y="5087243"/>
            <a:ext cx="1629751" cy="668588"/>
          </a:xfrm>
          <a:prstGeom prst="rect">
            <a:avLst/>
          </a:prstGeom>
          <a:solidFill>
            <a:srgbClr val="E07C3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Moderate - Aggressive</a:t>
            </a:r>
          </a:p>
        </p:txBody>
      </p:sp>
    </p:spTree>
    <p:extLst>
      <p:ext uri="{BB962C8B-B14F-4D97-AF65-F5344CB8AC3E}">
        <p14:creationId xmlns:p14="http://schemas.microsoft.com/office/powerpoint/2010/main" val="2235531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CDF58-92C0-EBF8-AD93-93353F8F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 anchor="ctr">
            <a:normAutofit/>
          </a:bodyPr>
          <a:lstStyle/>
          <a:p>
            <a:r>
              <a:rPr lang="en-US" dirty="0"/>
              <a:t>Case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39AB4-7AB8-3EF7-FED9-1CDD0974E8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4614" y="2486095"/>
            <a:ext cx="4815840" cy="3952434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91000"/>
              </a:lnSpc>
            </a:pPr>
            <a:r>
              <a:rPr lang="en-US" sz="1600" b="1" dirty="0"/>
              <a:t>Fund Context</a:t>
            </a:r>
          </a:p>
          <a:p>
            <a:pPr marL="342900" indent="-342900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Equity-only fund, 10 stocks</a:t>
            </a:r>
          </a:p>
          <a:p>
            <a:pPr marL="342900" indent="-342900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Inception: Jan 2010 | Initial Capital: $1M</a:t>
            </a:r>
          </a:p>
          <a:p>
            <a:pPr>
              <a:lnSpc>
                <a:spcPct val="91000"/>
              </a:lnSpc>
            </a:pPr>
            <a:r>
              <a:rPr lang="en-US" sz="1600" b="1" dirty="0"/>
              <a:t>Our Role</a:t>
            </a:r>
          </a:p>
          <a:p>
            <a:pPr marL="342900" indent="-342900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 Manager Takeover: Jan 2020</a:t>
            </a:r>
          </a:p>
          <a:p>
            <a:pPr marL="342900" indent="-342900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Redesign using pre-2020 data only</a:t>
            </a:r>
          </a:p>
          <a:p>
            <a:pPr>
              <a:lnSpc>
                <a:spcPct val="91000"/>
              </a:lnSpc>
            </a:pPr>
            <a:r>
              <a:rPr lang="en-US" sz="1600" b="1" dirty="0"/>
              <a:t>Evaluation Framework</a:t>
            </a:r>
          </a:p>
          <a:p>
            <a:pPr marL="342900" indent="-342900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Out-of-sample: 2020-2025</a:t>
            </a:r>
          </a:p>
          <a:p>
            <a:pPr marL="342900" indent="-342900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Comparison: Legacy vs. Static vs. Active</a:t>
            </a:r>
          </a:p>
          <a:p>
            <a:pPr marL="342900" indent="-342900">
              <a:lnSpc>
                <a:spcPct val="91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Benchmark: SPY</a:t>
            </a:r>
          </a:p>
          <a:p>
            <a:pPr marL="285750" indent="-285750">
              <a:lnSpc>
                <a:spcPct val="91000"/>
              </a:lnSpc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lnSpc>
                <a:spcPct val="91000"/>
              </a:lnSpc>
            </a:pPr>
            <a:endParaRPr lang="en-US" sz="1200" dirty="0"/>
          </a:p>
        </p:txBody>
      </p:sp>
      <p:pic>
        <p:nvPicPr>
          <p:cNvPr id="9" name="Picture 8" descr="A graph of a chart&#10;&#10;AI-generated content may be incorrect.">
            <a:extLst>
              <a:ext uri="{FF2B5EF4-FFF2-40B4-BE49-F238E27FC236}">
                <a16:creationId xmlns:a16="http://schemas.microsoft.com/office/drawing/2014/main" id="{48E69D9F-D6EB-2EC5-E438-58717BC51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454" y="2486095"/>
            <a:ext cx="6209314" cy="3710065"/>
          </a:xfrm>
          <a:prstGeom prst="rect">
            <a:avLst/>
          </a:prstGeom>
          <a:noFill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359D08C-D1C0-E637-0A57-AF281D40639F}"/>
              </a:ext>
            </a:extLst>
          </p:cNvPr>
          <p:cNvSpPr/>
          <p:nvPr/>
        </p:nvSpPr>
        <p:spPr>
          <a:xfrm>
            <a:off x="0" y="6303734"/>
            <a:ext cx="12192000" cy="5542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83013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CC00B3F2-D8CE-25C4-B625-F93CBB310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/>
          <a:lstStyle/>
          <a:p>
            <a:r>
              <a:rPr lang="en-US" dirty="0"/>
              <a:t>Inherited Fund</a:t>
            </a:r>
          </a:p>
        </p:txBody>
      </p:sp>
      <p:pic>
        <p:nvPicPr>
          <p:cNvPr id="5" name="Picture 4" descr="A graph of stock market performance&#10;&#10;AI-generated content may be incorrect.">
            <a:extLst>
              <a:ext uri="{FF2B5EF4-FFF2-40B4-BE49-F238E27FC236}">
                <a16:creationId xmlns:a16="http://schemas.microsoft.com/office/drawing/2014/main" id="{BED5DF24-EF26-CF6E-F04C-4329B3521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78081"/>
            <a:ext cx="10268712" cy="3568378"/>
          </a:xfrm>
          <a:prstGeom prst="rect">
            <a:avLst/>
          </a:prstGeom>
          <a:noFill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EE5AEF1-07FA-0410-A1C8-85A25941DC0E}"/>
              </a:ext>
            </a:extLst>
          </p:cNvPr>
          <p:cNvSpPr/>
          <p:nvPr/>
        </p:nvSpPr>
        <p:spPr>
          <a:xfrm>
            <a:off x="0" y="1741465"/>
            <a:ext cx="12192000" cy="5542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68384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1B941-CFBC-4D5E-7C60-8AFFA92FD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 anchor="ctr">
            <a:normAutofit/>
          </a:bodyPr>
          <a:lstStyle/>
          <a:p>
            <a:r>
              <a:rPr lang="en-US"/>
              <a:t>Inherited Fund Diagnosis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1DF8B-A910-6B40-A05D-C9D525875F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6021" y="2488342"/>
            <a:ext cx="6377179" cy="405184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/>
              <a:t>Inherited Fund Takeaways (In-Sample):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Dominant holdings: AAPL (~20%), AMZN (~25%)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Key Risk: High concentration in tech (~50%)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Performance: Strong returns (~18.48%), but driven by a few stocks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5CF893-13AE-E10E-3D8B-1FDD7CF27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756240"/>
            <a:ext cx="5407592" cy="2217112"/>
          </a:xfrm>
          <a:prstGeom prst="rect">
            <a:avLst/>
          </a:prstGeom>
          <a:noFill/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863DCF-18F2-C067-2123-1A2083B697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800775"/>
              </p:ext>
            </p:extLst>
          </p:nvPr>
        </p:nvGraphicFramePr>
        <p:xfrm>
          <a:off x="2485042" y="5443096"/>
          <a:ext cx="7218868" cy="921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7222">
                  <a:extLst>
                    <a:ext uri="{9D8B030D-6E8A-4147-A177-3AD203B41FA5}">
                      <a16:colId xmlns:a16="http://schemas.microsoft.com/office/drawing/2014/main" val="3048147711"/>
                    </a:ext>
                  </a:extLst>
                </a:gridCol>
                <a:gridCol w="2280505">
                  <a:extLst>
                    <a:ext uri="{9D8B030D-6E8A-4147-A177-3AD203B41FA5}">
                      <a16:colId xmlns:a16="http://schemas.microsoft.com/office/drawing/2014/main" val="808525166"/>
                    </a:ext>
                  </a:extLst>
                </a:gridCol>
                <a:gridCol w="1033611">
                  <a:extLst>
                    <a:ext uri="{9D8B030D-6E8A-4147-A177-3AD203B41FA5}">
                      <a16:colId xmlns:a16="http://schemas.microsoft.com/office/drawing/2014/main" val="683447867"/>
                    </a:ext>
                  </a:extLst>
                </a:gridCol>
                <a:gridCol w="1837530">
                  <a:extLst>
                    <a:ext uri="{9D8B030D-6E8A-4147-A177-3AD203B41FA5}">
                      <a16:colId xmlns:a16="http://schemas.microsoft.com/office/drawing/2014/main" val="2937326531"/>
                    </a:ext>
                  </a:extLst>
                </a:gridCol>
              </a:tblGrid>
              <a:tr h="460564">
                <a:tc>
                  <a:txBody>
                    <a:bodyPr/>
                    <a:lstStyle/>
                    <a:p>
                      <a:r>
                        <a:rPr lang="en-US" dirty="0"/>
                        <a:t>Annualized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Annualized Volatility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Sharpe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 Drawdown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572822"/>
                  </a:ext>
                </a:extLst>
              </a:tr>
              <a:tr h="46056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-23.59%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270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7665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FB9EC-2261-836A-B1F7-FF5EF5C9F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Stock Screening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458DB-4083-C1D8-A546-5F0AA173A0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6736080" cy="3593592"/>
          </a:xfrm>
        </p:spPr>
        <p:txBody>
          <a:bodyPr>
            <a:normAutofit/>
          </a:bodyPr>
          <a:lstStyle/>
          <a:p>
            <a:r>
              <a:rPr lang="en-US" b="1" u="sng" dirty="0"/>
              <a:t>Screening Framework: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Market Cap &gt; $50B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3+ Consecutive years of positive net income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Identifiable competitive moat (brand, network effect, cost advantage, etc.)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Max 2-3 holdings per GICS sector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C7395C-FC94-279E-A443-D8ABA7B44A5B}"/>
              </a:ext>
            </a:extLst>
          </p:cNvPr>
          <p:cNvSpPr/>
          <p:nvPr/>
        </p:nvSpPr>
        <p:spPr>
          <a:xfrm>
            <a:off x="0" y="1741465"/>
            <a:ext cx="12192000" cy="5542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8B1A7C-C43F-BC03-763C-4054070AF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192807"/>
              </p:ext>
            </p:extLst>
          </p:nvPr>
        </p:nvGraphicFramePr>
        <p:xfrm>
          <a:off x="7696200" y="3323412"/>
          <a:ext cx="3947160" cy="28579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1267">
                  <a:extLst>
                    <a:ext uri="{9D8B030D-6E8A-4147-A177-3AD203B41FA5}">
                      <a16:colId xmlns:a16="http://schemas.microsoft.com/office/drawing/2014/main" val="3689678739"/>
                    </a:ext>
                  </a:extLst>
                </a:gridCol>
                <a:gridCol w="2455893">
                  <a:extLst>
                    <a:ext uri="{9D8B030D-6E8A-4147-A177-3AD203B41FA5}">
                      <a16:colId xmlns:a16="http://schemas.microsoft.com/office/drawing/2014/main" val="1387566291"/>
                    </a:ext>
                  </a:extLst>
                </a:gridCol>
              </a:tblGrid>
              <a:tr h="408276">
                <a:tc>
                  <a:txBody>
                    <a:bodyPr/>
                    <a:lstStyle/>
                    <a:p>
                      <a:r>
                        <a:rPr lang="en-US" dirty="0"/>
                        <a:t>Candidate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690774"/>
                  </a:ext>
                </a:extLst>
              </a:tr>
              <a:tr h="408276"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Financials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706937"/>
                  </a:ext>
                </a:extLst>
              </a:tr>
              <a:tr h="408276">
                <a:tc>
                  <a:txBody>
                    <a:bodyPr/>
                    <a:lstStyle/>
                    <a:p>
                      <a:r>
                        <a:rPr lang="en-US" dirty="0"/>
                        <a:t>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Financials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81834"/>
                  </a:ext>
                </a:extLst>
              </a:tr>
              <a:tr h="408276">
                <a:tc>
                  <a:txBody>
                    <a:bodyPr/>
                    <a:lstStyle/>
                    <a:p>
                      <a:r>
                        <a:rPr lang="en-US" dirty="0"/>
                        <a:t>JPM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Financials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245350"/>
                  </a:ext>
                </a:extLst>
              </a:tr>
              <a:tr h="408276">
                <a:tc>
                  <a:txBody>
                    <a:bodyPr/>
                    <a:lstStyle/>
                    <a:p>
                      <a:r>
                        <a:rPr lang="en-US" dirty="0"/>
                        <a:t>WMT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Consumer Staples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8639413"/>
                  </a:ext>
                </a:extLst>
              </a:tr>
              <a:tr h="408276">
                <a:tc>
                  <a:txBody>
                    <a:bodyPr/>
                    <a:lstStyle/>
                    <a:p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Consumer Staples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652523"/>
                  </a:ext>
                </a:extLst>
              </a:tr>
              <a:tr h="408276">
                <a:tc>
                  <a:txBody>
                    <a:bodyPr/>
                    <a:lstStyle/>
                    <a:p>
                      <a:r>
                        <a:rPr lang="en-US" dirty="0"/>
                        <a:t>TGT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Consumer Stables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89675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DDDE9DD-A5A5-19BE-CBE1-074C3442CD3C}"/>
              </a:ext>
            </a:extLst>
          </p:cNvPr>
          <p:cNvSpPr txBox="1"/>
          <p:nvPr/>
        </p:nvSpPr>
        <p:spPr>
          <a:xfrm>
            <a:off x="7696200" y="2880360"/>
            <a:ext cx="394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 of Stock Candidates</a:t>
            </a:r>
          </a:p>
        </p:txBody>
      </p:sp>
    </p:spTree>
    <p:extLst>
      <p:ext uri="{BB962C8B-B14F-4D97-AF65-F5344CB8AC3E}">
        <p14:creationId xmlns:p14="http://schemas.microsoft.com/office/powerpoint/2010/main" val="13245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3AD86-6B93-C34B-900F-27B091B14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Portfolio Screening Process</a:t>
            </a: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E3A31B9-25DB-7759-D7CC-B8A22CE27D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6845909"/>
              </p:ext>
            </p:extLst>
          </p:nvPr>
        </p:nvGraphicFramePr>
        <p:xfrm>
          <a:off x="1249914" y="1699993"/>
          <a:ext cx="9689123" cy="6372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5AE66F60-E6DA-1F79-A59F-57F9C7D05D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371" y="2353936"/>
            <a:ext cx="7110247" cy="4504064"/>
          </a:xfrm>
          <a:prstGeom prst="rect">
            <a:avLst/>
          </a:prstGeom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F34A639-63D6-DF7E-5B52-CA348C94076B}"/>
              </a:ext>
            </a:extLst>
          </p:cNvPr>
          <p:cNvSpPr/>
          <p:nvPr/>
        </p:nvSpPr>
        <p:spPr>
          <a:xfrm>
            <a:off x="6551675" y="3645001"/>
            <a:ext cx="5134357" cy="192193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42119A-0F6A-1DEF-F630-23908402047B}"/>
              </a:ext>
            </a:extLst>
          </p:cNvPr>
          <p:cNvSpPr txBox="1"/>
          <p:nvPr/>
        </p:nvSpPr>
        <p:spPr>
          <a:xfrm>
            <a:off x="6655189" y="3774970"/>
            <a:ext cx="503084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Decisions</a:t>
            </a:r>
          </a:p>
          <a:p>
            <a:r>
              <a:rPr lang="en-US" sz="1600" b="1" dirty="0"/>
              <a:t>Criteria: </a:t>
            </a:r>
            <a:r>
              <a:rPr lang="en-US" dirty="0"/>
              <a:t>Market Cap &gt;$50B, 3+ Years Positive NI, Competitive Moat, Sector Cap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Kept: </a:t>
            </a:r>
            <a:r>
              <a:rPr lang="en-US" sz="1600" dirty="0"/>
              <a:t>AAPL, AMZN, MSFT, GOOG, CMSA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Dropped: </a:t>
            </a:r>
            <a:r>
              <a:rPr lang="en-US" sz="1600" dirty="0"/>
              <a:t>XOM, KO, ORCL, WFC, BRK-B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Added: </a:t>
            </a:r>
            <a:r>
              <a:rPr lang="en-US" sz="1600" dirty="0"/>
              <a:t>V, WMT, CVX, NEE, UNH</a:t>
            </a:r>
          </a:p>
        </p:txBody>
      </p:sp>
    </p:spTree>
    <p:extLst>
      <p:ext uri="{BB962C8B-B14F-4D97-AF65-F5344CB8AC3E}">
        <p14:creationId xmlns:p14="http://schemas.microsoft.com/office/powerpoint/2010/main" val="586630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CF4EFFD-D570-C9D2-DBEB-59E99D98C0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 b="516"/>
          <a:stretch>
            <a:fillRect/>
          </a:stretch>
        </p:blipFill>
        <p:spPr>
          <a:xfrm>
            <a:off x="5776685" y="2453532"/>
            <a:ext cx="5984351" cy="3557164"/>
          </a:xfrm>
          <a:prstGeom prst="rect">
            <a:avLst/>
          </a:prstGeom>
          <a:noFill/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F4BB993-AAAE-D6E0-56D6-4A8BE65E9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4047" y="2249151"/>
            <a:ext cx="4666956" cy="3277137"/>
          </a:xfrm>
        </p:spPr>
        <p:txBody>
          <a:bodyPr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Higher Sharpe &amp; Sortino (Revised Active Leads)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Lower Drawdowns vs. Legacy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Reduced Concentration Risk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4EC2A7-A425-6520-7EBE-DC223F75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 anchor="ctr">
            <a:normAutofit/>
          </a:bodyPr>
          <a:lstStyle/>
          <a:p>
            <a:r>
              <a:rPr lang="en-US" dirty="0"/>
              <a:t>Revised Portfolio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F88DEC-9A00-D934-96AB-E1C842EB1ABF}"/>
              </a:ext>
            </a:extLst>
          </p:cNvPr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DEB892-6812-2342-0894-0B6ABA8450AE}"/>
              </a:ext>
            </a:extLst>
          </p:cNvPr>
          <p:cNvSpPr txBox="1"/>
          <p:nvPr/>
        </p:nvSpPr>
        <p:spPr>
          <a:xfrm>
            <a:off x="216190" y="6153834"/>
            <a:ext cx="11756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Implement the revised portfolio using a Sharpe-tilt strategy to improve risk-adjusted performance and reduce drawdowns.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7ADC49D-6D2D-490C-37AD-3DB387ECE5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717854"/>
              </p:ext>
            </p:extLst>
          </p:nvPr>
        </p:nvGraphicFramePr>
        <p:xfrm>
          <a:off x="980436" y="5020096"/>
          <a:ext cx="348488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453">
                  <a:extLst>
                    <a:ext uri="{9D8B030D-6E8A-4147-A177-3AD203B41FA5}">
                      <a16:colId xmlns:a16="http://schemas.microsoft.com/office/drawing/2014/main" val="830747509"/>
                    </a:ext>
                  </a:extLst>
                </a:gridCol>
                <a:gridCol w="774017">
                  <a:extLst>
                    <a:ext uri="{9D8B030D-6E8A-4147-A177-3AD203B41FA5}">
                      <a16:colId xmlns:a16="http://schemas.microsoft.com/office/drawing/2014/main" val="1966470867"/>
                    </a:ext>
                  </a:extLst>
                </a:gridCol>
                <a:gridCol w="1369414">
                  <a:extLst>
                    <a:ext uri="{9D8B030D-6E8A-4147-A177-3AD203B41FA5}">
                      <a16:colId xmlns:a16="http://schemas.microsoft.com/office/drawing/2014/main" val="243184689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en-US" sz="1400" dirty="0"/>
                        <a:t>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Sharpe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Max Drawdown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22316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400" dirty="0"/>
                        <a:t>Legacy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-31.38%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02085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en-US" sz="1400" dirty="0"/>
                        <a:t>Revised 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-27.83%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041109"/>
                  </a:ext>
                </a:extLst>
              </a:tr>
            </a:tbl>
          </a:graphicData>
        </a:graphic>
      </p:graphicFrame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A89653A-CDE6-DBF6-E440-DF3B03B97732}"/>
              </a:ext>
            </a:extLst>
          </p:cNvPr>
          <p:cNvSpPr/>
          <p:nvPr/>
        </p:nvSpPr>
        <p:spPr>
          <a:xfrm>
            <a:off x="3194392" y="1837904"/>
            <a:ext cx="5800168" cy="51985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Final weights are non-equal, favoring high-alpha stocks</a:t>
            </a:r>
          </a:p>
        </p:txBody>
      </p:sp>
    </p:spTree>
    <p:extLst>
      <p:ext uri="{BB962C8B-B14F-4D97-AF65-F5344CB8AC3E}">
        <p14:creationId xmlns:p14="http://schemas.microsoft.com/office/powerpoint/2010/main" val="2722357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A9F5B-145F-9C56-997B-D6E90FF5D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Limitations &amp; Dashboard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B3487-55BE-8FB5-1597-E160AB8A4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089" y="2499623"/>
            <a:ext cx="10268712" cy="359359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Historical Dependence</a:t>
            </a:r>
          </a:p>
          <a:p>
            <a:pPr>
              <a:lnSpc>
                <a:spcPct val="150000"/>
              </a:lnSpc>
            </a:pPr>
            <a:r>
              <a:rPr lang="en-US" dirty="0"/>
              <a:t>Limited Universe (10 stocks)</a:t>
            </a:r>
          </a:p>
          <a:p>
            <a:pPr>
              <a:lnSpc>
                <a:spcPct val="150000"/>
              </a:lnSpc>
            </a:pPr>
            <a:r>
              <a:rPr lang="en-US" dirty="0"/>
              <a:t>Model Simplicity</a:t>
            </a:r>
          </a:p>
          <a:p>
            <a:pPr>
              <a:lnSpc>
                <a:spcPct val="150000"/>
              </a:lnSpc>
            </a:pPr>
            <a:r>
              <a:rPr lang="en-US" dirty="0"/>
              <a:t>Transaction Costs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765D48-3307-F8A5-867C-58328E8B28BE}"/>
              </a:ext>
            </a:extLst>
          </p:cNvPr>
          <p:cNvSpPr txBox="1">
            <a:spLocks/>
          </p:cNvSpPr>
          <p:nvPr/>
        </p:nvSpPr>
        <p:spPr>
          <a:xfrm>
            <a:off x="5165251" y="5363161"/>
            <a:ext cx="6833556" cy="24835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>
                <a:ea typeface="+mn-lt"/>
                <a:cs typeface="+mn-lt"/>
              </a:rPr>
              <a:t>Live demo: 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>
                <a:ea typeface="+mn-lt"/>
                <a:cs typeface="+mn-lt"/>
              </a:rPr>
              <a:t>Fund overview | </a:t>
            </a:r>
            <a:r>
              <a:rPr lang="en-US" dirty="0" err="1">
                <a:ea typeface="+mn-lt"/>
                <a:cs typeface="+mn-lt"/>
              </a:rPr>
              <a:t>Backtest</a:t>
            </a:r>
            <a:r>
              <a:rPr lang="en-US" dirty="0">
                <a:ea typeface="+mn-lt"/>
                <a:cs typeface="+mn-lt"/>
              </a:rPr>
              <a:t> Comparison | Risk Diagnostics 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BB8527-5D3B-FF59-080F-CAA828CEF33A}"/>
              </a:ext>
            </a:extLst>
          </p:cNvPr>
          <p:cNvSpPr/>
          <p:nvPr/>
        </p:nvSpPr>
        <p:spPr>
          <a:xfrm>
            <a:off x="0" y="1741465"/>
            <a:ext cx="12192000" cy="5542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08410E-13EF-67AC-FE75-CCBB2C756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251" y="1945357"/>
            <a:ext cx="6741878" cy="339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400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5061FC-5872-8A2C-4E43-3DDC7D31A0B0}"/>
              </a:ext>
            </a:extLst>
          </p:cNvPr>
          <p:cNvSpPr txBox="1"/>
          <p:nvPr/>
        </p:nvSpPr>
        <p:spPr>
          <a:xfrm>
            <a:off x="2265680" y="2137827"/>
            <a:ext cx="76606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THANK YOU!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6D34F2-C57A-D0FE-4433-1FDF25E488C2}"/>
              </a:ext>
            </a:extLst>
          </p:cNvPr>
          <p:cNvSpPr/>
          <p:nvPr/>
        </p:nvSpPr>
        <p:spPr>
          <a:xfrm>
            <a:off x="0" y="6303734"/>
            <a:ext cx="12192000" cy="5542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24709E-F620-D9F7-D1B4-A83E5EAA7A88}"/>
              </a:ext>
            </a:extLst>
          </p:cNvPr>
          <p:cNvSpPr txBox="1"/>
          <p:nvPr/>
        </p:nvSpPr>
        <p:spPr>
          <a:xfrm>
            <a:off x="2646680" y="3707487"/>
            <a:ext cx="68986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AND A SPECIAL THANKS TO PROFESSOR LI</a:t>
            </a:r>
          </a:p>
        </p:txBody>
      </p:sp>
    </p:spTree>
    <p:extLst>
      <p:ext uri="{BB962C8B-B14F-4D97-AF65-F5344CB8AC3E}">
        <p14:creationId xmlns:p14="http://schemas.microsoft.com/office/powerpoint/2010/main" val="2633412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D5116-A2FB-2E60-5545-A1F668167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8CFC5-F7EA-8970-08EB-E1D6AB800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753166"/>
            <a:ext cx="10268712" cy="3593592"/>
          </a:xfrm>
        </p:spPr>
        <p:txBody>
          <a:bodyPr>
            <a:normAutofit fontScale="85000" lnSpcReduction="10000"/>
          </a:bodyPr>
          <a:lstStyle/>
          <a:p>
            <a:pPr marL="457200" indent="-731520"/>
            <a:r>
              <a:rPr lang="en-US" altLang="en-US" dirty="0">
                <a:solidFill>
                  <a:srgbClr val="000000"/>
                </a:solidFill>
              </a:rPr>
              <a:t>PwC. “Global Investor Survey 2025 .” Investors look for resilience and innovation in 2026, December 8, 2025. https://</a:t>
            </a:r>
            <a:r>
              <a:rPr lang="en-US" altLang="en-US" dirty="0" err="1">
                <a:solidFill>
                  <a:srgbClr val="000000"/>
                </a:solidFill>
              </a:rPr>
              <a:t>www.pwc.com</a:t>
            </a:r>
            <a:r>
              <a:rPr lang="en-US" altLang="en-US" dirty="0">
                <a:solidFill>
                  <a:srgbClr val="000000"/>
                </a:solidFill>
              </a:rPr>
              <a:t>/</a:t>
            </a:r>
            <a:r>
              <a:rPr lang="en-US" altLang="en-US" dirty="0" err="1">
                <a:solidFill>
                  <a:srgbClr val="000000"/>
                </a:solidFill>
              </a:rPr>
              <a:t>gx</a:t>
            </a:r>
            <a:r>
              <a:rPr lang="en-US" altLang="en-US" dirty="0">
                <a:solidFill>
                  <a:srgbClr val="000000"/>
                </a:solidFill>
              </a:rPr>
              <a:t>/</a:t>
            </a:r>
            <a:r>
              <a:rPr lang="en-US" altLang="en-US" dirty="0" err="1">
                <a:solidFill>
                  <a:srgbClr val="000000"/>
                </a:solidFill>
              </a:rPr>
              <a:t>en</a:t>
            </a:r>
            <a:r>
              <a:rPr lang="en-US" altLang="en-US" dirty="0">
                <a:solidFill>
                  <a:srgbClr val="000000"/>
                </a:solidFill>
              </a:rPr>
              <a:t>/issues/c-suite-insights/global-investor-</a:t>
            </a:r>
            <a:r>
              <a:rPr lang="en-US" altLang="en-US" dirty="0" err="1">
                <a:solidFill>
                  <a:srgbClr val="000000"/>
                </a:solidFill>
              </a:rPr>
              <a:t>survey.html</a:t>
            </a:r>
            <a:r>
              <a:rPr lang="en-US" altLang="en-US" dirty="0">
                <a:solidFill>
                  <a:srgbClr val="000000"/>
                </a:solidFill>
              </a:rPr>
              <a:t>. </a:t>
            </a:r>
          </a:p>
          <a:p>
            <a:pPr marL="457200" indent="-731520"/>
            <a:r>
              <a:rPr lang="en-US" altLang="en-US" dirty="0">
                <a:solidFill>
                  <a:srgbClr val="000000"/>
                </a:solidFill>
              </a:rPr>
              <a:t>Sun Life Global Investments. “What Is the Vix Volatility Index &amp; Why It Matters.” Investor Education, May 28, 2025. https://</a:t>
            </a:r>
            <a:r>
              <a:rPr lang="en-US" altLang="en-US" dirty="0" err="1">
                <a:solidFill>
                  <a:srgbClr val="000000"/>
                </a:solidFill>
              </a:rPr>
              <a:t>www.sunlifeglobalinvestments.com</a:t>
            </a:r>
            <a:r>
              <a:rPr lang="en-US" altLang="en-US" dirty="0">
                <a:solidFill>
                  <a:srgbClr val="000000"/>
                </a:solidFill>
              </a:rPr>
              <a:t>/</a:t>
            </a:r>
            <a:r>
              <a:rPr lang="en-US" altLang="en-US" dirty="0" err="1">
                <a:solidFill>
                  <a:srgbClr val="000000"/>
                </a:solidFill>
              </a:rPr>
              <a:t>en</a:t>
            </a:r>
            <a:r>
              <a:rPr lang="en-US" altLang="en-US" dirty="0">
                <a:solidFill>
                  <a:srgbClr val="000000"/>
                </a:solidFill>
              </a:rPr>
              <a:t>/insights/investor-education/understanding-market-volatility/what-is-the-</a:t>
            </a:r>
            <a:r>
              <a:rPr lang="en-US" altLang="en-US" dirty="0" err="1">
                <a:solidFill>
                  <a:srgbClr val="000000"/>
                </a:solidFill>
              </a:rPr>
              <a:t>vix</a:t>
            </a:r>
            <a:r>
              <a:rPr lang="en-US" altLang="en-US" dirty="0">
                <a:solidFill>
                  <a:srgbClr val="000000"/>
                </a:solidFill>
              </a:rPr>
              <a:t>-volatility-index-and-why-it-matters/. </a:t>
            </a:r>
            <a:endParaRPr lang="en-US" dirty="0"/>
          </a:p>
          <a:p>
            <a:pPr marL="457200" indent="-731520"/>
            <a:r>
              <a:rPr lang="en-US" altLang="en-US" dirty="0"/>
              <a:t>Yahoo Finance. </a:t>
            </a:r>
            <a:r>
              <a:rPr lang="en-US" altLang="en-US" i="1" dirty="0"/>
              <a:t>“Historical Price Data.”</a:t>
            </a:r>
            <a:r>
              <a:rPr lang="en-US" altLang="en-US" dirty="0"/>
              <a:t> Accessed May 2, 2026. </a:t>
            </a:r>
            <a:r>
              <a:rPr lang="en-US" alt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https://finance.yahoo.com/</a:t>
            </a:r>
            <a:r>
              <a:rPr lang="en-US" altLang="en-US" dirty="0"/>
              <a:t>.</a:t>
            </a:r>
          </a:p>
          <a:p>
            <a:endParaRPr lang="en-US" altLang="en-US" sz="2800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349754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VTI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JuxtaposeVTI">
      <a:majorFont>
        <a:latin typeface="Franklin Gothic Demi Cond" panose="020B0706030402020204"/>
        <a:ea typeface=""/>
        <a:cs typeface=""/>
      </a:majorFont>
      <a:minorFont>
        <a:latin typeface="Franklin Gothic Medium" panose="020B0603020102020204"/>
        <a:ea typeface=""/>
        <a:cs typeface=""/>
      </a:minorFont>
    </a:fontScheme>
    <a:fmtScheme name="Juxtapo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B0236716-CA63-41C1-B6AD-997AE15F064B}" vid="{0E0AE8FC-D493-434E-BDCC-ED5FFB2DAE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882</TotalTime>
  <Words>582</Words>
  <Application>Microsoft Macintosh PowerPoint</Application>
  <PresentationFormat>Widescreen</PresentationFormat>
  <Paragraphs>133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Franklin Gothic Demi Cond</vt:lpstr>
      <vt:lpstr>Franklin Gothic Medium</vt:lpstr>
      <vt:lpstr>Wingdings</vt:lpstr>
      <vt:lpstr>JuxtaposeVTI</vt:lpstr>
      <vt:lpstr>Fund Management Capstone</vt:lpstr>
      <vt:lpstr>MARKET DEMAND</vt:lpstr>
      <vt:lpstr>Target Market &amp; Objective</vt:lpstr>
      <vt:lpstr>Case setup</vt:lpstr>
      <vt:lpstr>Inherited Fund</vt:lpstr>
      <vt:lpstr>Inherited Fund Diagnosis</vt:lpstr>
      <vt:lpstr>Stock Screening Criteria</vt:lpstr>
      <vt:lpstr>Portfolio Screening Process</vt:lpstr>
      <vt:lpstr>Revised Portfolio </vt:lpstr>
      <vt:lpstr>Limitations &amp; Dashboard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Binando, Bailey</cp:lastModifiedBy>
  <cp:revision>66</cp:revision>
  <dcterms:created xsi:type="dcterms:W3CDTF">2026-04-17T16:08:10Z</dcterms:created>
  <dcterms:modified xsi:type="dcterms:W3CDTF">2026-05-04T03:05:14Z</dcterms:modified>
</cp:coreProperties>
</file>